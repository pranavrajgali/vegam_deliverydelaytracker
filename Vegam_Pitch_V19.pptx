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B5E28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EB5E28"/>
                </a:solidFill>
                <a:latin typeface="Arial"/>
              </a:rPr>
              <a:t>REWARD: BEFORE vs AFTER OPTIMIZATION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</c:v>
                </c:pt>
              </c:strCache>
            </c:strRef>
          </c:tx>
          <c:spPr>
            <a:solidFill>
              <a:srgbClr val="403D3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244-447D-AE62-530DF1FC42F0}"/>
              </c:ext>
            </c:extLst>
          </c:dPt>
          <c:dPt>
            <c:idx val="1"/>
            <c:invertIfNegative val="0"/>
            <c:bubble3D val="0"/>
            <c:spPr>
              <a:solidFill>
                <a:srgbClr val="EB5E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44-447D-AE62-530DF1FC42F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524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After Végam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-456</c:v>
                </c:pt>
                <c:pt idx="1">
                  <c:v>2598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44-447D-AE62-530DF1FC42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3D3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3D3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695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583680" y="256032"/>
            <a:ext cx="2377440" cy="50292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583680" y="256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TVASTR '26  //  HACKATHON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Vegam</a:t>
            </a:r>
            <a:endParaRPr lang="en-US" sz="108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530352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296265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INTELLIGENCE &amp; FORENSIC DEEP DIVE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03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  ·  Prioritize  ·  Optimize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292608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CHIRUTHA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370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Bindu Darshitha  ·  Abhinav Mucharla  ·  Pranav Raj Galipalli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858000" y="13716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205472" y="13716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552944" y="13716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900416" y="13716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47888" y="13716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595360" y="13716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858000" y="196596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205472" y="196596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552944" y="196596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900416" y="196596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247888" y="196596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595360" y="196596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858000" y="256032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05472" y="256032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552944" y="2560320"/>
            <a:ext cx="54864" cy="54864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900416" y="256032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47888" y="256032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595360" y="256032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858000" y="315468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205472" y="315468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552944" y="315468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900416" y="315468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8247888" y="315468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595360" y="315468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858000" y="374904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205472" y="374904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552944" y="374904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900416" y="374904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8247888" y="374904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595360" y="374904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858000" y="43434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205472" y="43434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552944" y="43434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900416" y="43434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247888" y="43434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595360" y="4343400"/>
            <a:ext cx="54864" cy="54864"/>
          </a:xfrm>
          <a:prstGeom prst="ellipse">
            <a:avLst/>
          </a:prstGeom>
          <a:solidFill>
            <a:srgbClr val="CCC5B9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logistics systems are failing operations teams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9224"/>
            <a:ext cx="246888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" cy="68580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097280"/>
            <a:ext cx="7635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51560" y="1097280"/>
            <a:ext cx="45720" cy="68580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88720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444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discovered after they happen — leaving no time to course-correct or reschedule.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502920" cy="685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98424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" y="1984248"/>
            <a:ext cx="7635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51560" y="1984248"/>
            <a:ext cx="45720" cy="6858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88720" y="2075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Project Delays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late delivery halts an entire project site, multiplying costs and missing SLAs.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71216"/>
            <a:ext cx="502920" cy="685800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287121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" y="2871216"/>
            <a:ext cx="7635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51560" y="2871216"/>
            <a:ext cx="45720" cy="685800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188720" y="29626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Decision-Making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2186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lack visibility into why delays occur — so the same problems repeat every cycle.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58184"/>
            <a:ext cx="502920" cy="6858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375818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51560" y="3758184"/>
            <a:ext cx="763524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051560" y="3758184"/>
            <a:ext cx="45720" cy="6858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188720" y="3849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 Framework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1056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delivery capacity is allocated subjectively, not by risk or business impact.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Five-stage intelligence pipeline from raw data to prescriptive action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9224"/>
            <a:ext cx="237744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508760" cy="777240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38528" y="1348740"/>
            <a:ext cx="128016" cy="182880"/>
          </a:xfrm>
          <a:prstGeom prst="rightArrow">
            <a:avLst/>
          </a:prstGeom>
          <a:solidFill>
            <a:srgbClr val="EB5E28"/>
          </a:solidFill>
          <a:ln w="1270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084832" y="1051560"/>
            <a:ext cx="1508760" cy="777240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84832" y="1051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1348740"/>
            <a:ext cx="128016" cy="182880"/>
          </a:xfrm>
          <a:prstGeom prst="rightArrow">
            <a:avLst/>
          </a:prstGeom>
          <a:solidFill>
            <a:srgbClr val="EB5E28"/>
          </a:solidFill>
          <a:ln w="1270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58184" y="1051560"/>
            <a:ext cx="1508760" cy="777240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58184" y="1051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85232" y="1348740"/>
            <a:ext cx="128016" cy="182880"/>
          </a:xfrm>
          <a:prstGeom prst="rightArrow">
            <a:avLst/>
          </a:prstGeom>
          <a:solidFill>
            <a:srgbClr val="EB5E28"/>
          </a:solidFill>
          <a:ln w="1270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31536" y="1051560"/>
            <a:ext cx="1508760" cy="777240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31536" y="1051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58584" y="1348740"/>
            <a:ext cx="128016" cy="182880"/>
          </a:xfrm>
          <a:prstGeom prst="rightArrow">
            <a:avLst/>
          </a:prstGeom>
          <a:solidFill>
            <a:srgbClr val="EB5E28"/>
          </a:solidFill>
          <a:ln w="1270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104888" y="1051560"/>
            <a:ext cx="1508760" cy="77724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04888" y="10515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029968"/>
            <a:ext cx="4023360" cy="1325880"/>
          </a:xfrm>
          <a:prstGeom prst="rect">
            <a:avLst/>
          </a:prstGeom>
          <a:solidFill>
            <a:srgbClr val="2524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2029968"/>
            <a:ext cx="64008" cy="132588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Forensics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24414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regression predicts delay hours across 14 feature dimensions — weather, traffic, routing complexity, factory variability.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029968"/>
            <a:ext cx="4023360" cy="1325880"/>
          </a:xfrm>
          <a:prstGeom prst="rect">
            <a:avLst/>
          </a:prstGeom>
          <a:solidFill>
            <a:srgbClr val="2524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2029968"/>
            <a:ext cx="64008" cy="13258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92040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Glass-Box Explainability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4414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decomposes every prediction into ranked root-causes. Full transparency for every dispatch decision.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538728"/>
            <a:ext cx="4023360" cy="1325880"/>
          </a:xfrm>
          <a:prstGeom prst="rect">
            <a:avLst/>
          </a:prstGeom>
          <a:solidFill>
            <a:srgbClr val="2524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11480" y="3538728"/>
            <a:ext cx="64008" cy="13258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9436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Optimizer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9502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thousands of corrective permutations — temporal rescheduling &amp; factory swaps — to maximize on-time reward.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538728"/>
            <a:ext cx="4023360" cy="1325880"/>
          </a:xfrm>
          <a:prstGeom prst="rect">
            <a:avLst/>
          </a:prstGeom>
          <a:solidFill>
            <a:srgbClr val="2524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09160" y="3538728"/>
            <a:ext cx="64008" cy="132588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9502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Streamlit command center: Operations Overview, Daily Optimizer, Deep Dive Forensics, and Executive LLM Reports.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&amp; Feature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438912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45720" cy="256032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RAW INPUT DATASETS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2011680" cy="54864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307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8912" y="1481328"/>
            <a:ext cx="182880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1517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delivery_id, factory_id,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project_id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distance_km, expected_time_hours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actual_time_hours, delay_flag,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468880" y="100584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68880" y="1005840"/>
            <a:ext cx="201168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6032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1307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Side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0" y="1481328"/>
            <a:ext cx="182880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560320" y="1517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factory_id, latitude, longitude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base_production_per_week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production_variability,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max_storage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90288" y="100584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90288" y="1005840"/>
            <a:ext cx="201168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81728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81728" y="1307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81728" y="1481328"/>
            <a:ext cx="182880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1517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project_id, latitude, longitude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demand, priority_level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711696" y="100584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711696" y="1005840"/>
            <a:ext cx="2011680" cy="54864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03136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FACTORS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03136" y="1307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Environment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03136" y="1481328"/>
            <a:ext cx="182880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03136" y="151790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weather_index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traffic_index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53312" y="2249424"/>
            <a:ext cx="0" cy="22860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74720" y="2249424"/>
            <a:ext cx="0" cy="22860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596128" y="2249424"/>
            <a:ext cx="0" cy="22860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717536" y="2249424"/>
            <a:ext cx="0" cy="22860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353312" y="2478024"/>
            <a:ext cx="6364224" cy="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35424" y="2478024"/>
            <a:ext cx="0" cy="201168"/>
          </a:xfrm>
          <a:prstGeom prst="line">
            <a:avLst/>
          </a:prstGeom>
          <a:noFill/>
          <a:ln w="15240">
            <a:solidFill>
              <a:srgbClr val="403D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 rot="2700000">
            <a:off x="4489704" y="2633472"/>
            <a:ext cx="91440" cy="9144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615184" y="2724912"/>
            <a:ext cx="3840480" cy="292608"/>
          </a:xfrm>
          <a:prstGeom prst="rect">
            <a:avLst/>
          </a:prstGeom>
          <a:solidFill>
            <a:srgbClr val="2524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615184" y="27249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FORENSIC AUDIT &amp; MERGED DATASET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3154680"/>
            <a:ext cx="45720" cy="256032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8912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FINAL MODEL FEATURES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35424" y="3017520"/>
            <a:ext cx="0" cy="45720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193292" y="3474720"/>
            <a:ext cx="6327648" cy="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193292" y="3474720"/>
            <a:ext cx="0" cy="9144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012948" y="3474720"/>
            <a:ext cx="0" cy="9144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832604" y="3474720"/>
            <a:ext cx="0" cy="9144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520940" y="3474720"/>
            <a:ext cx="0" cy="91440"/>
          </a:xfrm>
          <a:prstGeom prst="line">
            <a:avLst/>
          </a:prstGeom>
          <a:noFill/>
          <a:ln w="10160">
            <a:solidFill>
              <a:srgbClr val="CCC5B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47472" y="358444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TABLE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94310" y="3712464"/>
            <a:ext cx="1691640" cy="0"/>
          </a:xfrm>
          <a:prstGeom prst="line">
            <a:avLst/>
          </a:prstGeom>
          <a:noFill/>
          <a:ln w="1524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194310" y="3749040"/>
            <a:ext cx="16916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194310" y="3749040"/>
            <a:ext cx="36576" cy="201168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58318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EB5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50342" y="3749040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distance_km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94310" y="3986784"/>
            <a:ext cx="16916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94310" y="3986784"/>
            <a:ext cx="36576" cy="201168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58318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EB5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450342" y="398678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haversine_km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194310" y="4224528"/>
            <a:ext cx="16916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194310" y="4224528"/>
            <a:ext cx="36576" cy="201168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258318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EB5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50342" y="4224528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routing_complexity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2167128" y="358444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SIDE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2013966" y="3712464"/>
            <a:ext cx="169164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2013966" y="3749040"/>
            <a:ext cx="16916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013966" y="3749040"/>
            <a:ext cx="36576" cy="20116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07797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2269998" y="3749040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base_prod_per_week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2013966" y="3986784"/>
            <a:ext cx="16916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2013966" y="3986784"/>
            <a:ext cx="36576" cy="20116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2077974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2269998" y="3986784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prod_variability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2013966" y="4224528"/>
            <a:ext cx="16916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013966" y="4224528"/>
            <a:ext cx="36576" cy="20116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077974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269998" y="4224528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supply_risk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3986784" y="358444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3833622" y="3712464"/>
            <a:ext cx="1691640" cy="0"/>
          </a:xfrm>
          <a:prstGeom prst="line">
            <a:avLst/>
          </a:prstGeom>
          <a:noFill/>
          <a:ln w="1524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3833622" y="3749040"/>
            <a:ext cx="169164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3833622" y="3749040"/>
            <a:ext cx="36576" cy="201168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89763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4089654" y="3749040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priority_encoded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5806440" y="3584448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ENV.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5653278" y="3712464"/>
            <a:ext cx="3429000" cy="0"/>
          </a:xfrm>
          <a:prstGeom prst="line">
            <a:avLst/>
          </a:prstGeom>
          <a:noFill/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5653278" y="3749040"/>
            <a:ext cx="1677924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5653278" y="3749040"/>
            <a:ext cx="36576" cy="20116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5717286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5909310" y="3749040"/>
            <a:ext cx="1385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weather_index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5653278" y="3986784"/>
            <a:ext cx="1677924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5653278" y="3986784"/>
            <a:ext cx="36576" cy="20116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5717286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5909310" y="3986784"/>
            <a:ext cx="1385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traffic_index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5653278" y="4224528"/>
            <a:ext cx="1677924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5653278" y="4224528"/>
            <a:ext cx="36576" cy="20116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5717286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5909310" y="4224528"/>
            <a:ext cx="1385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ext_severity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5653278" y="4462272"/>
            <a:ext cx="1677924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5653278" y="4462272"/>
            <a:ext cx="36576" cy="20116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5717286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5909310" y="4462272"/>
            <a:ext cx="1385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ext_compound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7404354" y="3749040"/>
            <a:ext cx="1677924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7404354" y="3749040"/>
            <a:ext cx="36576" cy="20116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7468362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600" dirty="0"/>
          </a:p>
        </p:txBody>
      </p:sp>
      <p:sp>
        <p:nvSpPr>
          <p:cNvPr id="102" name="Text 100"/>
          <p:cNvSpPr/>
          <p:nvPr/>
        </p:nvSpPr>
        <p:spPr>
          <a:xfrm>
            <a:off x="7660386" y="3749040"/>
            <a:ext cx="1385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day_of_week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7404354" y="3986784"/>
            <a:ext cx="1677924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7404354" y="3986784"/>
            <a:ext cx="36576" cy="20116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7468362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7660386" y="3986784"/>
            <a:ext cx="1385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7404354" y="4224528"/>
            <a:ext cx="1677924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7404354" y="4224528"/>
            <a:ext cx="36576" cy="201168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7468362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7B5E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600" dirty="0"/>
          </a:p>
        </p:txBody>
      </p:sp>
      <p:sp>
        <p:nvSpPr>
          <p:cNvPr id="110" name="Text 108"/>
          <p:cNvSpPr/>
          <p:nvPr/>
        </p:nvSpPr>
        <p:spPr>
          <a:xfrm>
            <a:off x="7660386" y="4224528"/>
            <a:ext cx="13853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week_of_month</a:t>
            </a:r>
            <a:endParaRPr lang="en-US" sz="600" dirty="0"/>
          </a:p>
        </p:txBody>
      </p:sp>
      <p:sp>
        <p:nvSpPr>
          <p:cNvPr id="111" name="Text 109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“Redundancies removed for streamlined analysis.”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Merging and Feature Engineering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data preparation ensuring model integrity and temporal validity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9224"/>
            <a:ext cx="438912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0" y="182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CHIRUTHA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— DATA MERGING &amp; FEATURE SYNTHESIS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74320" cy="274320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Reframing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8928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Transitioned to a continuous target variable (delay_hours) to capture severity over binary occurrence.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74320" cy="274320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3774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Elimination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786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post-delivery columns and zero-variance features to ensure model integrity.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74320" cy="274320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632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Fusion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2644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External Factors, Factory Data, and Projects into a single enriched record per delivery.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274320" cy="274320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37490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Synthesis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14 model-ready features (e.g., external_severity, compound_weather_risk, and supply_risk).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274320" cy="274320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44348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Retention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636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 factory_id and project_id specifically for the Stage 5 Optimization Layer.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FEATURE AUDIT &amp; TEMPORAL PREP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7373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463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16916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Integrity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18928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data by date to prevent future-data leakage—critical for time-dependent delivery patterns.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4231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463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57800" y="23774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Audit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25786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engineered features (external_compound) against the target to ensure predictive value.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1089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4632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30632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57800" y="32644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 80/20 Time-Based Split (Training on past, Testing on future) to mirror real deployment.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7947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8463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57800" y="37490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57800" y="39502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TimeSeriesSplit to ensure each fold validates only on subsequent data points.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44805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4632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57800" y="443484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57800" y="46360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Utilized StandardScaler (fitted only on training data) to provide a clean baseline for linear comparisons.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&amp; Glass-Box Explainability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576072"/>
            <a:ext cx="438912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32918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75488" y="77724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TUNED XGBOOST PIPELINE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52728"/>
            <a:ext cx="3840480" cy="612648"/>
          </a:xfrm>
          <a:prstGeom prst="rect">
            <a:avLst/>
          </a:prstGeom>
          <a:solidFill>
            <a:srgbClr val="FFFCF2"/>
          </a:solidFill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252728"/>
            <a:ext cx="73152" cy="6126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13258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BASELINE BENCHMARKING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536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Model → Ridge Regression → XGBoost benchmark to quantify uplift.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" y="1865376"/>
            <a:ext cx="0" cy="1371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2002536"/>
            <a:ext cx="3840480" cy="612648"/>
          </a:xfrm>
          <a:prstGeom prst="rect">
            <a:avLst/>
          </a:prstGeom>
          <a:solidFill>
            <a:srgbClr val="FFFCF2"/>
          </a:solidFill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2002536"/>
            <a:ext cx="73152" cy="6126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" y="207568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BAYESIAN OPTIMIZATION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22860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Optuna trials over tree depth, learning rate, subsample, λ &amp; α.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" y="2615184"/>
            <a:ext cx="0" cy="1371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752344"/>
            <a:ext cx="3840480" cy="612648"/>
          </a:xfrm>
          <a:prstGeom prst="rect">
            <a:avLst/>
          </a:prstGeom>
          <a:solidFill>
            <a:srgbClr val="FFFCF2"/>
          </a:solidFill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2920" y="2752344"/>
            <a:ext cx="73152" cy="6126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" y="28254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MEDIAN-ROBUST LOSS (MAE)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3035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MAE over RMSE resists heavy-tail outlier contamination.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9496" y="3364992"/>
            <a:ext cx="0" cy="13716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02920" y="3502152"/>
            <a:ext cx="3840480" cy="612648"/>
          </a:xfrm>
          <a:prstGeom prst="rect">
            <a:avLst/>
          </a:prstGeom>
          <a:solidFill>
            <a:srgbClr val="FFFCF2"/>
          </a:solidFill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02920" y="3502152"/>
            <a:ext cx="73152" cy="6126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8368" y="35753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TEMPORAL VALIDATION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" y="37856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time-based splits. TimeSeriesSplit CV. Zero data leakage.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777240"/>
            <a:ext cx="4114800" cy="4023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777240"/>
            <a:ext cx="4114800" cy="329184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73168" y="77724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GLASS-BOX FORENSIC AUDIT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Reaches a Decision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494391"/>
            <a:ext cx="0" cy="2779776"/>
          </a:xfrm>
          <a:prstGeom prst="line">
            <a:avLst/>
          </a:prstGeom>
          <a:noFill/>
          <a:ln w="10160">
            <a:solidFill>
              <a:srgbClr val="403D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53712" y="1631551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weather_index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8000" y="1631551"/>
            <a:ext cx="921715" cy="201168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894576" y="1631551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B5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+2.1h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53712" y="2015599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distance_km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858000" y="2015599"/>
            <a:ext cx="702259" cy="201168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94576" y="2015599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B5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+1.6h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53712" y="2399647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traffic_index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58000" y="2399647"/>
            <a:ext cx="526694" cy="201168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894576" y="2399647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B5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+1.2h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53712" y="2783695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supply_risk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58000" y="2783695"/>
            <a:ext cx="307238" cy="201168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894576" y="2783695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B5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+0.7h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53712" y="3167743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base_prod_per_week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462979" y="3167743"/>
            <a:ext cx="395021" cy="201168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894576" y="3167743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-0.9h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53712" y="3551791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routing_complexity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638544" y="3551791"/>
            <a:ext cx="219456" cy="201168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894576" y="3551791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-0.5h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53712" y="3935839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3D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priority_encoded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726326" y="3935839"/>
            <a:ext cx="131674" cy="201168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894576" y="3935839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-0.3h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464454" y="4475335"/>
            <a:ext cx="182880" cy="9144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683910" y="4447903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Delay-increasing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128662" y="4475335"/>
            <a:ext cx="182880" cy="914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7348118" y="4447903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Delay-reducing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Végam turns a prediction into a decision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12648"/>
            <a:ext cx="283464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0" y="182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CHIRUTHA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73152" cy="45720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960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 On-time   ·   −15 Delayed   ·   +5 High-priority   ·   −2× Excess Delay Hours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251460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251460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1792" y="17465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17830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21792" y="22402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 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" y="2624328"/>
            <a:ext cx="2185416" cy="0"/>
          </a:xfrm>
          <a:prstGeom prst="line">
            <a:avLst/>
          </a:prstGeom>
          <a:noFill/>
          <a:ln w="762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" y="269748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predicts delay hours. Deliveries above threshold are flagged for optimization.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26664" y="2752344"/>
            <a:ext cx="237744" cy="256032"/>
          </a:xfrm>
          <a:prstGeom prst="rightArrow">
            <a:avLst/>
          </a:prstGeom>
          <a:solidFill>
            <a:srgbClr val="CCC5B9"/>
          </a:solidFill>
          <a:ln w="1270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319272" y="1600200"/>
            <a:ext cx="251460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319272" y="1600200"/>
            <a:ext cx="2514600" cy="54864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483864" y="1746504"/>
            <a:ext cx="402336" cy="402336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83864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17830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83864" y="22402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 It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83864" y="2624328"/>
            <a:ext cx="2185416" cy="0"/>
          </a:xfrm>
          <a:prstGeom prst="line">
            <a:avLst/>
          </a:prstGeom>
          <a:noFill/>
          <a:ln w="762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83864" y="269748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re-runs the delivery across thousands of date &amp; factory permutations to find the best outcome.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88736" y="2752344"/>
            <a:ext cx="237744" cy="256032"/>
          </a:xfrm>
          <a:prstGeom prst="rightArrow">
            <a:avLst/>
          </a:prstGeom>
          <a:solidFill>
            <a:srgbClr val="CCC5B9"/>
          </a:solidFill>
          <a:ln w="1270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81344" y="1600200"/>
            <a:ext cx="251460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181344" y="1600200"/>
            <a:ext cx="25146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45936" y="1746504"/>
            <a:ext cx="402336" cy="402336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45936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39712" y="17830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45936" y="2240280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On It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5936" y="2624328"/>
            <a:ext cx="2185416" cy="0"/>
          </a:xfrm>
          <a:prstGeom prst="line">
            <a:avLst/>
          </a:prstGeom>
          <a:noFill/>
          <a:ln w="762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45936" y="2697480"/>
            <a:ext cx="2185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dispatch queue is generated. Every action is backed by a mathematical reward gain.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Twin simulates 1,000s of permutations — temporal rescheduling &amp; spatial factory swaps — to maximise the business reward score.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Regression over Classification?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justification for predicting continuous delay hours vs. binary delay flag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49224"/>
            <a:ext cx="438912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4023360" cy="384048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C5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 (REJECTED)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023360" cy="54864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85216" y="161848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 Only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" y="1947672"/>
            <a:ext cx="3767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Delayed / On-Time. Cannot distinguish a 1-hour slip from a 24-hour catastrophe.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40233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4023360" cy="54864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85216" y="271576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Resource Quantification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" y="3044952"/>
            <a:ext cx="3767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 cannot calculate costs, re-routing budgets, or SLA penalties without exact delay magnitude.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0233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4023360" cy="54864"/>
          </a:xfrm>
          <a:prstGeom prst="rect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85216" y="381304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Temporal Granularity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" y="4142232"/>
            <a:ext cx="3767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2-hour delay and a 12-hour delay both output '1'. Critical business signal is destroyed.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024128"/>
            <a:ext cx="4023360" cy="384048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024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 (CHOSEN)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508760"/>
            <a:ext cx="40233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63440" y="1508760"/>
            <a:ext cx="4023360" cy="54864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91456" y="161848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Delay Hours Predicted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1947672"/>
            <a:ext cx="3767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precise delay magnitude (e.g., 5.8 hrs), enabling cost-per-hour penalty calculations.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606040"/>
            <a:ext cx="40233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3440" y="2606040"/>
            <a:ext cx="4023360" cy="54864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91456" y="271576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Resource Allocation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91456" y="3044952"/>
            <a:ext cx="3767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teams can pre-allocate buffer time, reroute capacity, and prioritize by urgency magnitude.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703320"/>
            <a:ext cx="402336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023360" cy="54864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91456" y="3813048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Reward Optimization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91456" y="4142232"/>
            <a:ext cx="3767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predictions directly power the Digital Twin reward function (−2× excess delay hours).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EB5E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73152" cy="347472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0080" y="4617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08760" y="46177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transforms a binary alert into a precise, actionable, financially quantifiable intelligence signal.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Us Stand 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that set Végam apart from standard logistics dashboards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12648"/>
            <a:ext cx="219456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54864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169164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12527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Loss Optimization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764792"/>
            <a:ext cx="361188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8562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optimize MAE over MSE — resisting heavy-tail outlier contamination. Our model speaks operational reality: 'On average, the prediction is accurate within X hours.'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397764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397764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09160" y="1051560"/>
            <a:ext cx="64008" cy="1691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58968" y="12527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Multi-Dimensional Risk Synthesis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92040" y="1764792"/>
            <a:ext cx="361188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92040" y="18562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engineered features capture cross-domain compounding risk: weather × traffic × factory variability × routing complexity — effects that simpler models miss entirely.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397764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397764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64008" cy="16916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7008" y="32186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TreeSHAP Forensics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3730752"/>
            <a:ext cx="361188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" y="38221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Game-theoretic Shapley values guarantee mathematically consistent, exact additive feature attribution. The forensic parts always sum to the total prediction. Not an approximation.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017520"/>
            <a:ext cx="397764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09160" y="3017520"/>
            <a:ext cx="3977640" cy="54864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09160" y="3017520"/>
            <a:ext cx="64008" cy="169164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58968" y="32186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 Optimizer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92040" y="3730752"/>
            <a:ext cx="361188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92040" y="382219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becomes a Simulator, not just an inference tool. High-risk deliveries are re-simulated across thousands of temporal and spatial permutations to find the optimal reward.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645152"/>
            <a:ext cx="73152" cy="329184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0080" y="464515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teams built dashboards. We built an Intelligence Command Center.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ROI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business value from Day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92024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960120"/>
          </a:xfrm>
          <a:prstGeom prst="rect">
            <a:avLst/>
          </a:prstGeom>
          <a:solidFill>
            <a:srgbClr val="2524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64008" cy="96012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060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C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+2,598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1499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GAIN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4360" y="16824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vs baseline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651760" y="1005840"/>
            <a:ext cx="2011680" cy="960120"/>
          </a:xfrm>
          <a:prstGeom prst="rect">
            <a:avLst/>
          </a:prstGeom>
          <a:solidFill>
            <a:srgbClr val="2524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51760" y="1005840"/>
            <a:ext cx="64008" cy="96012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88920" y="1060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C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88920" y="1499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REDUCTION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88920" y="16824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proactive intervention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2011680" cy="960120"/>
          </a:xfrm>
          <a:prstGeom prst="rect">
            <a:avLst/>
          </a:prstGeom>
          <a:solidFill>
            <a:srgbClr val="2524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64008" cy="96012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83480" y="1060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C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983480" y="1499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LATENCY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83480" y="16824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dashboard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040880" y="1005840"/>
            <a:ext cx="2011680" cy="960120"/>
          </a:xfrm>
          <a:prstGeom prst="rect">
            <a:avLst/>
          </a:prstGeom>
          <a:solidFill>
            <a:srgbClr val="2524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040880" y="1005840"/>
            <a:ext cx="64008" cy="96012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178040" y="10607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C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178040" y="1499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178040" y="16824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for every delivery</a:t>
            </a:r>
            <a:endParaRPr lang="en-US" sz="7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57200" y="2103120"/>
          <a:ext cx="45720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5212080" y="2103120"/>
            <a:ext cx="45720" cy="256032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30352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B5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212080" y="2423160"/>
            <a:ext cx="329184" cy="329184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21208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614416" y="24323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614416" y="26243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rescheduling avoids penalty charges from late project delivery.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212080" y="297180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21208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614416" y="298094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614416" y="31729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forensic reports replace hours of manual analysis per delay incident.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212080" y="3520440"/>
            <a:ext cx="329184" cy="329184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5212080" y="3520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614416" y="352958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Efficiency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614416" y="37216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slot optimization maximizes daily dispatch capacity without overstretching.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212080" y="4069080"/>
            <a:ext cx="329184" cy="329184"/>
          </a:xfrm>
          <a:prstGeom prst="ellipse">
            <a:avLst/>
          </a:prstGeom>
          <a:solidFill>
            <a:srgbClr val="403D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521208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614416" y="407822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614416" y="4270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projects are guaranteed slots before lower-priority load.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high-value expansions on Végam's intelligence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182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CCC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CHIRUTHA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612648"/>
            <a:ext cx="1828800" cy="36576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7764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64008" cy="1810512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3977640" cy="4572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21792" y="1115568"/>
            <a:ext cx="1417320" cy="18288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11155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867912" y="1078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B5E28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1792" y="13716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&amp; Financial Translation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1792224"/>
            <a:ext cx="370332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1865376"/>
            <a:ext cx="3703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delay hour predictions into real dollar-value savings — translating operational metrics into board-level financial language that drives executive buy-in.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397764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64008" cy="1810512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09160" y="1005840"/>
            <a:ext cx="3977640" cy="4572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73752" y="1115568"/>
            <a:ext cx="1417320" cy="1828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73752" y="11155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119872" y="1078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D6A4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73752" y="13716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ESG &amp; Carbon Impact Tracking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73752" y="1792224"/>
            <a:ext cx="370332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73752" y="1865376"/>
            <a:ext cx="3703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optimized route and factory swap is mapped to its CO₂ reduction. Végam aligns logistics intelligence with corporate sustainability and ESG reporting goals.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090672"/>
            <a:ext cx="397764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3090672"/>
            <a:ext cx="64008" cy="181051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3090672"/>
            <a:ext cx="3977640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1792" y="3200400"/>
            <a:ext cx="1417320" cy="1828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1792" y="3200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867912" y="3163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C7293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21792" y="34564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Cross-Modal Data Integration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" y="3877056"/>
            <a:ext cx="370332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1792" y="3950208"/>
            <a:ext cx="3703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Incorporating real-time satellite imagery as a high-fidelity weather signal, dramatically improving delay prediction precision beyond ground-level indices.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090672"/>
            <a:ext cx="3977640" cy="1810512"/>
          </a:xfrm>
          <a:prstGeom prst="rect">
            <a:avLst/>
          </a:prstGeom>
          <a:solidFill>
            <a:srgbClr val="FFFFFF"/>
          </a:solidFill>
          <a:ln w="889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09160" y="3090672"/>
            <a:ext cx="64008" cy="1810512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09160" y="3090672"/>
            <a:ext cx="3977640" cy="4572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73752" y="3200400"/>
            <a:ext cx="1417320" cy="18288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73752" y="3200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119872" y="3163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B5EA7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873752" y="345643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Deployment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73752" y="3877056"/>
            <a:ext cx="370332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73752" y="3950208"/>
            <a:ext cx="37033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Compressing the XGBoost inference pipeline for sub-10ms latency on industrial IoT edge nodes — enabling field operations with zero cloud dependency.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C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didn't just build a model.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B5E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a logistics brain.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four raw CSV files, we engineered a system that thinks the way a seasoned logistics manager does — reading weather, traffic, factory reliability, and project urgency all at once — and then acts on it.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XGBoost pipeline doesn't just predict delays. It explains why they happen, which deliveries are at risk, and what to do — rescheduling, re-routing, or re-prioritizing — all scored against a reward framework that speaks the language of business outcomes.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was deliberate: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73152" cy="73152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over Classification</a:t>
            </a:r>
            <a:r>
              <a:rPr lang="en-US" sz="95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capture severity, not just occurrence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2240280"/>
            <a:ext cx="73152" cy="73152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splits</a:t>
            </a:r>
            <a:r>
              <a:rPr lang="en-US" sz="95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prevent data leakage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2560320"/>
            <a:ext cx="73152" cy="73152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25146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over RMSE</a:t>
            </a:r>
            <a:r>
              <a:rPr lang="en-US" sz="95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handle real-world outliers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2880360"/>
            <a:ext cx="73152" cy="73152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0" y="28346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</a:t>
            </a:r>
            <a:r>
              <a:rPr lang="en-US" sz="95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make the black box transparent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3200400"/>
            <a:ext cx="73152" cy="73152"/>
          </a:xfrm>
          <a:prstGeom prst="ellipse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engine</a:t>
            </a:r>
            <a:r>
              <a:rPr lang="en-US" sz="950" i="1" dirty="0">
                <a:solidFill>
                  <a:srgbClr val="40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 make predictions actionable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841248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C5B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73152" cy="914400"/>
          </a:xfrm>
          <a:prstGeom prst="rect">
            <a:avLst/>
          </a:prstGeom>
          <a:solidFill>
            <a:srgbClr val="EB5E2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 is not a submission. It is a deployable decision system — one that turns uncertainty into strategy, and data into competitive advantage.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6350">
            <a:solidFill>
              <a:srgbClr val="CCC5B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79733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03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Bindu Darshitha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0" y="479733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03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Abhinav Mucharla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120640" y="4797333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03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Pranav Raj Galipalli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4617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4709159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>
                <a:solidFill>
                  <a:srgbClr val="252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Vegam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1603</Words>
  <Application>Microsoft Office PowerPoint</Application>
  <PresentationFormat>On-screen Show (16:9)</PresentationFormat>
  <Paragraphs>287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Végam – TVASTR '26</dc:title>
  <dc:subject>PptxGenJS Presentation</dc:subject>
  <dc:creator>Team Chirutha</dc:creator>
  <cp:lastModifiedBy>pranav raj</cp:lastModifiedBy>
  <cp:revision>2</cp:revision>
  <dcterms:created xsi:type="dcterms:W3CDTF">2026-04-25T06:11:28Z</dcterms:created>
  <dcterms:modified xsi:type="dcterms:W3CDTF">2026-04-25T13:50:01Z</dcterms:modified>
</cp:coreProperties>
</file>